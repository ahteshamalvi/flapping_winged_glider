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2918400" cx="43891200"/>
  <p:notesSz cx="6858000" cy="9144000"/>
  <p:embeddedFontLst>
    <p:embeddedFont>
      <p:font typeface="Roboto Thin"/>
      <p:regular r:id="rId7"/>
      <p:bold r:id="rId8"/>
      <p:italic r:id="rId9"/>
      <p:boldItalic r:id="rId10"/>
    </p:embeddedFont>
    <p:embeddedFont>
      <p:font typeface="Roboto"/>
      <p:regular r:id="rId11"/>
      <p:bold r:id="rId12"/>
      <p:italic r:id="rId13"/>
      <p:boldItalic r:id="rId14"/>
    </p:embeddedFont>
    <p:embeddedFont>
      <p:font typeface="Roboto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7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7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font" Target="fonts/RobotoThin-boldItalic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Thin-italic.fntdata"/><Relationship Id="rId15" Type="http://schemas.openxmlformats.org/officeDocument/2006/relationships/font" Target="fonts/RobotoMedium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RobotoMedium-italic.fntdata"/><Relationship Id="rId16" Type="http://schemas.openxmlformats.org/officeDocument/2006/relationships/font" Target="fonts/Robot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edium-boldItalic.fntdata"/><Relationship Id="rId7" Type="http://schemas.openxmlformats.org/officeDocument/2006/relationships/font" Target="fonts/RobotoThin-regular.fntdata"/><Relationship Id="rId8" Type="http://schemas.openxmlformats.org/officeDocument/2006/relationships/font" Target="fonts/RobotoTh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4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indent="-704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indent="-704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indent="-704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indent="-704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indent="-704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indent="-704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indent="-704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 amt="10000"/>
          </a:blip>
          <a:srcRect b="0" l="11072" r="0" t="0"/>
          <a:stretch/>
        </p:blipFill>
        <p:spPr>
          <a:xfrm flipH="1">
            <a:off x="0" y="0"/>
            <a:ext cx="43891200" cy="329184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8728350" y="1192575"/>
            <a:ext cx="252189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840D35"/>
                </a:solidFill>
              </a:rPr>
              <a:t> RoboRaptor:</a:t>
            </a:r>
            <a:r>
              <a:rPr b="1" lang="en" sz="9600">
                <a:solidFill>
                  <a:srgbClr val="840D35"/>
                </a:solidFill>
              </a:rPr>
              <a:t> Articulated Wing Glider</a:t>
            </a:r>
            <a:endParaRPr b="1" sz="9600">
              <a:solidFill>
                <a:srgbClr val="840D3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2"/>
                </a:solidFill>
              </a:rPr>
              <a:t>Ahtesham Alvi, Piyush Sethy, Saiarun Jayanthi, and Dr. Lena Johnson</a:t>
            </a:r>
            <a:endParaRPr sz="5200">
              <a:solidFill>
                <a:schemeClr val="dk2"/>
              </a:solidFill>
            </a:endParaRPr>
          </a:p>
          <a:p>
            <a:pPr indent="457200" lvl="0" marL="7315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dk2"/>
                </a:solidFill>
              </a:rPr>
              <a:t> </a:t>
            </a:r>
            <a:endParaRPr sz="48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20134"/>
          <a:stretch/>
        </p:blipFill>
        <p:spPr>
          <a:xfrm rot="10800000">
            <a:off x="33735576" y="13054362"/>
            <a:ext cx="8111652" cy="48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93400" y="4876014"/>
            <a:ext cx="5725425" cy="429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8556702" y="7250175"/>
            <a:ext cx="4294026" cy="5725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20441684" y="7943284"/>
            <a:ext cx="12155590" cy="6337462"/>
            <a:chOff x="4732925" y="995934"/>
            <a:chExt cx="3380027" cy="1114769"/>
          </a:xfrm>
        </p:grpSpPr>
        <p:grpSp>
          <p:nvGrpSpPr>
            <p:cNvPr id="60" name="Google Shape;60;p13"/>
            <p:cNvGrpSpPr/>
            <p:nvPr/>
          </p:nvGrpSpPr>
          <p:grpSpPr>
            <a:xfrm>
              <a:off x="4732925" y="1140987"/>
              <a:ext cx="529800" cy="969716"/>
              <a:chOff x="4318975" y="1083450"/>
              <a:chExt cx="529800" cy="574204"/>
            </a:xfrm>
          </p:grpSpPr>
          <p:sp>
            <p:nvSpPr>
              <p:cNvPr id="61" name="Google Shape;61;p13"/>
              <p:cNvSpPr/>
              <p:nvPr/>
            </p:nvSpPr>
            <p:spPr>
              <a:xfrm>
                <a:off x="4517131" y="1083454"/>
                <a:ext cx="133500" cy="574200"/>
              </a:xfrm>
              <a:prstGeom prst="rect">
                <a:avLst/>
              </a:prstGeom>
              <a:solidFill>
                <a:srgbClr val="840D35"/>
              </a:solidFill>
              <a:ln>
                <a:noFill/>
              </a:ln>
            </p:spPr>
            <p:txBody>
              <a:bodyPr anchorCtr="0" anchor="ctr" bIns="438850" lIns="438850" spcFirstLastPara="1" rIns="438850" wrap="square" tIns="438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2" name="Google Shape;62;p13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40D3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3" name="Google Shape;63;p13"/>
            <p:cNvSpPr txBox="1"/>
            <p:nvPr/>
          </p:nvSpPr>
          <p:spPr>
            <a:xfrm>
              <a:off x="5334943" y="995934"/>
              <a:ext cx="2728200" cy="3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Prototype 2: </a:t>
              </a:r>
              <a:r>
                <a:rPr b="1" i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Sparrow </a:t>
              </a: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&amp;</a:t>
              </a:r>
              <a:r>
                <a:rPr b="1" i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 Falcon with Actuating Wings</a:t>
              </a: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sz="4800">
                <a:solidFill>
                  <a:srgbClr val="840D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4800">
                <a:solidFill>
                  <a:srgbClr val="840D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5304052" y="1270473"/>
              <a:ext cx="28089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Improved design with 3D printed servo mounts, end connectors, servo wing spars, and a middle hinge connector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Used flexible black film, which was more resistant to wind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Incorporated electronics and servos into the kite 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Failure: Wooden dowels were too stiff and broke during flight test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" name="Google Shape;65;p13"/>
          <p:cNvGrpSpPr/>
          <p:nvPr/>
        </p:nvGrpSpPr>
        <p:grpSpPr>
          <a:xfrm>
            <a:off x="20441402" y="13679597"/>
            <a:ext cx="11990228" cy="4628599"/>
            <a:chOff x="4732925" y="955136"/>
            <a:chExt cx="3334046" cy="1002056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4732925" y="1140987"/>
              <a:ext cx="529800" cy="816205"/>
              <a:chOff x="4318975" y="1083450"/>
              <a:chExt cx="529800" cy="483305"/>
            </a:xfrm>
          </p:grpSpPr>
          <p:sp>
            <p:nvSpPr>
              <p:cNvPr id="67" name="Google Shape;67;p13"/>
              <p:cNvSpPr/>
              <p:nvPr/>
            </p:nvSpPr>
            <p:spPr>
              <a:xfrm>
                <a:off x="4517129" y="1083455"/>
                <a:ext cx="133500" cy="483300"/>
              </a:xfrm>
              <a:prstGeom prst="rect">
                <a:avLst/>
              </a:prstGeom>
              <a:solidFill>
                <a:srgbClr val="840D35"/>
              </a:solidFill>
              <a:ln>
                <a:noFill/>
              </a:ln>
            </p:spPr>
            <p:txBody>
              <a:bodyPr anchorCtr="0" anchor="ctr" bIns="438850" lIns="438850" spcFirstLastPara="1" rIns="438850" wrap="square" tIns="438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8" name="Google Shape;68;p13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40D3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9" name="Google Shape;69;p13"/>
            <p:cNvSpPr txBox="1"/>
            <p:nvPr/>
          </p:nvSpPr>
          <p:spPr>
            <a:xfrm>
              <a:off x="5338771" y="955136"/>
              <a:ext cx="2728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Prototype 3: </a:t>
              </a:r>
              <a:r>
                <a:rPr b="1" i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Eagle </a:t>
              </a:r>
              <a:endParaRPr b="1" sz="4800">
                <a:solidFill>
                  <a:srgbClr val="840D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" name="Google Shape;70;p13"/>
            <p:cNvSpPr txBox="1"/>
            <p:nvPr/>
          </p:nvSpPr>
          <p:spPr>
            <a:xfrm>
              <a:off x="5307482" y="1108307"/>
              <a:ext cx="27282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Transitioned the frame from wooden dowels to carbon fiber and aluminum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Adjusted the wing shape based on dimensions of an eagle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Success: Was able to take flight with winds above 7 mph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1" name="Google Shape;7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98414">
            <a:off x="32088111" y="8241579"/>
            <a:ext cx="5751857" cy="43138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13"/>
          <p:cNvGrpSpPr/>
          <p:nvPr/>
        </p:nvGrpSpPr>
        <p:grpSpPr>
          <a:xfrm>
            <a:off x="20441386" y="17686319"/>
            <a:ext cx="12007240" cy="5916686"/>
            <a:chOff x="4732925" y="966405"/>
            <a:chExt cx="3338776" cy="1173178"/>
          </a:xfrm>
        </p:grpSpPr>
        <p:grpSp>
          <p:nvGrpSpPr>
            <p:cNvPr id="73" name="Google Shape;73;p13"/>
            <p:cNvGrpSpPr/>
            <p:nvPr/>
          </p:nvGrpSpPr>
          <p:grpSpPr>
            <a:xfrm>
              <a:off x="4732925" y="1140987"/>
              <a:ext cx="529800" cy="998596"/>
              <a:chOff x="4318975" y="1083450"/>
              <a:chExt cx="529800" cy="591305"/>
            </a:xfrm>
          </p:grpSpPr>
          <p:sp>
            <p:nvSpPr>
              <p:cNvPr id="74" name="Google Shape;74;p13"/>
              <p:cNvSpPr/>
              <p:nvPr/>
            </p:nvSpPr>
            <p:spPr>
              <a:xfrm>
                <a:off x="4517129" y="1083455"/>
                <a:ext cx="133500" cy="591300"/>
              </a:xfrm>
              <a:prstGeom prst="rect">
                <a:avLst/>
              </a:prstGeom>
              <a:solidFill>
                <a:srgbClr val="840D35"/>
              </a:solidFill>
              <a:ln>
                <a:noFill/>
              </a:ln>
            </p:spPr>
            <p:txBody>
              <a:bodyPr anchorCtr="0" anchor="ctr" bIns="438850" lIns="438850" spcFirstLastPara="1" rIns="438850" wrap="square" tIns="438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" name="Google Shape;75;p13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40D3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6" name="Google Shape;76;p13"/>
            <p:cNvSpPr txBox="1"/>
            <p:nvPr/>
          </p:nvSpPr>
          <p:spPr>
            <a:xfrm>
              <a:off x="5343501" y="966405"/>
              <a:ext cx="2728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Prototype 4: </a:t>
              </a:r>
              <a:r>
                <a:rPr b="1" i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Eagle with Actuating Wings</a:t>
              </a:r>
              <a:endParaRPr b="1" sz="4800">
                <a:solidFill>
                  <a:srgbClr val="840D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77;p13"/>
            <p:cNvSpPr txBox="1"/>
            <p:nvPr/>
          </p:nvSpPr>
          <p:spPr>
            <a:xfrm>
              <a:off x="5309600" y="1275940"/>
              <a:ext cx="2728200" cy="83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Added servos and actuating wings with 3D printed wing arms and mounts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Used a white film as it is lighter and better suited for hotter climates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Used a 3D printed plate to incorporate all electronics, including wind sensor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Success: Was able to fly with the ability to flap and turn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8" name="Google Shape;78;p13"/>
          <p:cNvCxnSpPr/>
          <p:nvPr/>
        </p:nvCxnSpPr>
        <p:spPr>
          <a:xfrm flipH="1">
            <a:off x="41460425" y="7719050"/>
            <a:ext cx="114300" cy="135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3"/>
          <p:cNvCxnSpPr/>
          <p:nvPr/>
        </p:nvCxnSpPr>
        <p:spPr>
          <a:xfrm>
            <a:off x="34919653" y="11887200"/>
            <a:ext cx="1380900" cy="147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/>
          <p:nvPr/>
        </p:nvCxnSpPr>
        <p:spPr>
          <a:xfrm flipH="1">
            <a:off x="38771115" y="12031300"/>
            <a:ext cx="1932600" cy="136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1" name="Google Shape;81;p13"/>
          <p:cNvGrpSpPr/>
          <p:nvPr/>
        </p:nvGrpSpPr>
        <p:grpSpPr>
          <a:xfrm>
            <a:off x="517677" y="5038650"/>
            <a:ext cx="19755436" cy="4293967"/>
            <a:chOff x="23378838" y="13842891"/>
            <a:chExt cx="18865008" cy="2694000"/>
          </a:xfrm>
        </p:grpSpPr>
        <p:sp>
          <p:nvSpPr>
            <p:cNvPr id="82" name="Google Shape;82;p13"/>
            <p:cNvSpPr/>
            <p:nvPr/>
          </p:nvSpPr>
          <p:spPr>
            <a:xfrm>
              <a:off x="25874205" y="13842891"/>
              <a:ext cx="16151400" cy="2694000"/>
            </a:xfrm>
            <a:prstGeom prst="rect">
              <a:avLst/>
            </a:prstGeom>
            <a:solidFill>
              <a:srgbClr val="EEEEEE"/>
            </a:solidFill>
            <a:ln cap="flat" cmpd="sng" w="76200">
              <a:solidFill>
                <a:srgbClr val="690D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rot="-5400000">
              <a:off x="24912652" y="12309082"/>
              <a:ext cx="2693409" cy="5761036"/>
            </a:xfrm>
            <a:prstGeom prst="flowChartOffpageConnector">
              <a:avLst/>
            </a:prstGeom>
            <a:solidFill>
              <a:srgbClr val="840D65"/>
            </a:solidFill>
            <a:ln cap="flat" cmpd="sng" w="76200">
              <a:solidFill>
                <a:srgbClr val="840D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23779580" y="14146072"/>
              <a:ext cx="3843535" cy="2292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Goal</a:t>
              </a:r>
              <a:endParaRPr sz="7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29721846" y="13847847"/>
              <a:ext cx="12522000" cy="268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rgbClr val="840D65"/>
                  </a:solidFill>
                  <a:latin typeface="Roboto"/>
                  <a:ea typeface="Roboto"/>
                  <a:cs typeface="Roboto"/>
                  <a:sym typeface="Roboto"/>
                </a:rPr>
                <a:t>This project aims to create a bird-inspired, tethered gliding robot (kite) with articulating flapping wings capable of measuring and characterizing the effects of atmospheric behavior and wind on mechanical flapping and gliding robots.</a:t>
              </a:r>
              <a:r>
                <a:rPr lang="en" sz="3400">
                  <a:solidFill>
                    <a:srgbClr val="840D65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3400">
                <a:solidFill>
                  <a:srgbClr val="840D6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" name="Google Shape;86;p13"/>
          <p:cNvGrpSpPr/>
          <p:nvPr/>
        </p:nvGrpSpPr>
        <p:grpSpPr>
          <a:xfrm>
            <a:off x="20441397" y="5239780"/>
            <a:ext cx="12137108" cy="3277632"/>
            <a:chOff x="4732925" y="983662"/>
            <a:chExt cx="3374888" cy="884365"/>
          </a:xfrm>
        </p:grpSpPr>
        <p:grpSp>
          <p:nvGrpSpPr>
            <p:cNvPr id="87" name="Google Shape;87;p13"/>
            <p:cNvGrpSpPr/>
            <p:nvPr/>
          </p:nvGrpSpPr>
          <p:grpSpPr>
            <a:xfrm>
              <a:off x="4732925" y="1140987"/>
              <a:ext cx="529800" cy="727040"/>
              <a:chOff x="4318975" y="1083450"/>
              <a:chExt cx="529800" cy="430507"/>
            </a:xfrm>
          </p:grpSpPr>
          <p:sp>
            <p:nvSpPr>
              <p:cNvPr id="88" name="Google Shape;88;p13"/>
              <p:cNvSpPr/>
              <p:nvPr/>
            </p:nvSpPr>
            <p:spPr>
              <a:xfrm>
                <a:off x="4517131" y="1083457"/>
                <a:ext cx="133500" cy="430500"/>
              </a:xfrm>
              <a:prstGeom prst="rect">
                <a:avLst/>
              </a:prstGeom>
              <a:solidFill>
                <a:srgbClr val="840D35"/>
              </a:solidFill>
              <a:ln>
                <a:noFill/>
              </a:ln>
            </p:spPr>
            <p:txBody>
              <a:bodyPr anchorCtr="0" anchor="ctr" bIns="438850" lIns="438850" spcFirstLastPara="1" rIns="438850" wrap="square" tIns="438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9" name="Google Shape;89;p13"/>
              <p:cNvCxnSpPr/>
              <p:nvPr/>
            </p:nvCxnSpPr>
            <p:spPr>
              <a:xfrm rot="10800000">
                <a:off x="4318975" y="1083450"/>
                <a:ext cx="5298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40D3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0" name="Google Shape;90;p13"/>
            <p:cNvSpPr txBox="1"/>
            <p:nvPr/>
          </p:nvSpPr>
          <p:spPr>
            <a:xfrm>
              <a:off x="5331772" y="983662"/>
              <a:ext cx="27282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Prototype 1: </a:t>
              </a:r>
              <a:r>
                <a:rPr b="1" i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Sparrow</a:t>
              </a: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 &amp; </a:t>
              </a:r>
              <a:r>
                <a:rPr b="1" i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Falcon</a:t>
              </a:r>
              <a:r>
                <a:rPr b="1" lang="en" sz="4800">
                  <a:solidFill>
                    <a:srgbClr val="840D35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sz="4800">
                <a:solidFill>
                  <a:srgbClr val="840D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5298913" y="1117835"/>
              <a:ext cx="28089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Large wings made with plastic film and a lightweight frame made up of wooden dowels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191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000"/>
                <a:buFont typeface="Roboto"/>
                <a:buChar char="-"/>
              </a:pPr>
              <a:r>
                <a:rPr b="1"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Failure: Unable to fly due to unstable joints and fragile plastic body</a:t>
              </a:r>
              <a:endParaRPr b="1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362761" y="9631604"/>
            <a:ext cx="19754872" cy="5513271"/>
            <a:chOff x="23233282" y="13842896"/>
            <a:chExt cx="18158721" cy="2694000"/>
          </a:xfrm>
        </p:grpSpPr>
        <p:sp>
          <p:nvSpPr>
            <p:cNvPr id="93" name="Google Shape;93;p13"/>
            <p:cNvSpPr/>
            <p:nvPr/>
          </p:nvSpPr>
          <p:spPr>
            <a:xfrm>
              <a:off x="25874202" y="13842896"/>
              <a:ext cx="15517800" cy="2694000"/>
            </a:xfrm>
            <a:prstGeom prst="rect">
              <a:avLst/>
            </a:prstGeom>
            <a:solidFill>
              <a:srgbClr val="EEEEEE"/>
            </a:solidFill>
            <a:ln cap="flat" cmpd="sng" w="76200">
              <a:solidFill>
                <a:srgbClr val="690D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 rot="-5400000">
              <a:off x="24912652" y="12309082"/>
              <a:ext cx="2693409" cy="5761036"/>
            </a:xfrm>
            <a:prstGeom prst="flowChartOffpageConnector">
              <a:avLst/>
            </a:prstGeom>
            <a:solidFill>
              <a:srgbClr val="690D84"/>
            </a:solidFill>
            <a:ln cap="flat" cmpd="sng" w="76200">
              <a:solidFill>
                <a:srgbClr val="690D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23233282" y="14046292"/>
              <a:ext cx="5760900" cy="22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Background</a:t>
              </a:r>
              <a:endParaRPr sz="7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29507705" y="13845417"/>
              <a:ext cx="11882700" cy="268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rgbClr val="690D84"/>
                  </a:solidFill>
                  <a:latin typeface="Roboto"/>
                  <a:ea typeface="Roboto"/>
                  <a:cs typeface="Roboto"/>
                  <a:sym typeface="Roboto"/>
                </a:rPr>
                <a:t>Unlike traditional drones which require a constant external power source for propulsion, gliding robots leverage aerodynamic efficiency to sustain flight by using the gliding and soaring behavior of birds. [1] This enables them to fly without requiring continuous power input, making them especially valuable for environmental monitoring and data collection. [2]</a:t>
              </a:r>
              <a:endParaRPr sz="4000">
                <a:solidFill>
                  <a:srgbClr val="690D8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363372" y="15443647"/>
            <a:ext cx="19754900" cy="4638529"/>
            <a:chOff x="23233285" y="13842896"/>
            <a:chExt cx="18175453" cy="2694000"/>
          </a:xfrm>
        </p:grpSpPr>
        <p:sp>
          <p:nvSpPr>
            <p:cNvPr id="98" name="Google Shape;98;p13"/>
            <p:cNvSpPr/>
            <p:nvPr/>
          </p:nvSpPr>
          <p:spPr>
            <a:xfrm>
              <a:off x="25874202" y="13842896"/>
              <a:ext cx="15517800" cy="2694000"/>
            </a:xfrm>
            <a:prstGeom prst="rect">
              <a:avLst/>
            </a:prstGeom>
            <a:solidFill>
              <a:srgbClr val="EEEEEE"/>
            </a:solidFill>
            <a:ln cap="flat" cmpd="sng" w="76200">
              <a:solidFill>
                <a:srgbClr val="180D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 rot="-5400000">
              <a:off x="24912652" y="12309082"/>
              <a:ext cx="2693409" cy="5761036"/>
            </a:xfrm>
            <a:prstGeom prst="flowChartOffpageConnector">
              <a:avLst/>
            </a:prstGeom>
            <a:solidFill>
              <a:srgbClr val="180D84"/>
            </a:solidFill>
            <a:ln cap="flat" cmpd="sng" w="76200">
              <a:solidFill>
                <a:srgbClr val="180D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23233285" y="14054336"/>
              <a:ext cx="5060700" cy="22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6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Governing Principles</a:t>
              </a:r>
              <a:endParaRPr sz="5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29490938" y="14043597"/>
              <a:ext cx="11917800" cy="22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rgbClr val="180D84"/>
                  </a:solidFill>
                  <a:latin typeface="Roboto"/>
                  <a:ea typeface="Roboto"/>
                  <a:cs typeface="Roboto"/>
                  <a:sym typeface="Roboto"/>
                </a:rPr>
                <a:t>Aspect Ratio: The ratio of the length of the wings to their width. It is calculated by dividing the square of the wingspan by the area of the wing. [3] Our kite has a high aspect ratio, which enables it to glide without relying exclusively on flapping </a:t>
              </a:r>
              <a:endParaRPr sz="4000">
                <a:solidFill>
                  <a:srgbClr val="180D8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rgbClr val="180D84"/>
                  </a:solidFill>
                  <a:latin typeface="Roboto"/>
                  <a:ea typeface="Roboto"/>
                  <a:cs typeface="Roboto"/>
                  <a:sym typeface="Roboto"/>
                </a:rPr>
                <a:t>to generate lift.</a:t>
              </a:r>
              <a:endParaRPr sz="4000">
                <a:solidFill>
                  <a:srgbClr val="180D8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02" name="Google Shape;102;p13"/>
          <p:cNvCxnSpPr>
            <a:stCxn id="56" idx="0"/>
          </p:cNvCxnSpPr>
          <p:nvPr/>
        </p:nvCxnSpPr>
        <p:spPr>
          <a:xfrm flipH="1">
            <a:off x="37780002" y="17913387"/>
            <a:ext cx="11400" cy="124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3" name="Google Shape;103;p13"/>
          <p:cNvGrpSpPr/>
          <p:nvPr/>
        </p:nvGrpSpPr>
        <p:grpSpPr>
          <a:xfrm>
            <a:off x="497975" y="24190029"/>
            <a:ext cx="9956308" cy="8347739"/>
            <a:chOff x="1118223" y="203299"/>
            <a:chExt cx="2090827" cy="4156826"/>
          </a:xfrm>
        </p:grpSpPr>
        <p:sp>
          <p:nvSpPr>
            <p:cNvPr id="104" name="Google Shape;104;p13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1118223" y="341741"/>
              <a:ext cx="2048100" cy="21381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1233851" y="743167"/>
              <a:ext cx="1815000" cy="172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Scientific Name</a:t>
              </a: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i="1"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P</a:t>
              </a:r>
              <a:r>
                <a:rPr i="1"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asser domesticus</a:t>
              </a:r>
              <a:endParaRPr i="1"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Wing Shape: </a:t>
              </a: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Elliptical Wing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Wingspan: 25.4 cm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Sparrow Aspect Ratio: 5.5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Model’s Aspect Ratio: 2.92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1233850" y="203299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House Sparrow </a:t>
              </a:r>
              <a:r>
                <a:rPr lang="en" sz="60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[4,5]</a:t>
              </a:r>
              <a:endParaRPr sz="6000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sp>
        <p:nvSpPr>
          <p:cNvPr id="108" name="Google Shape;108;p13"/>
          <p:cNvSpPr/>
          <p:nvPr/>
        </p:nvSpPr>
        <p:spPr>
          <a:xfrm>
            <a:off x="701801" y="28562527"/>
            <a:ext cx="9752400" cy="3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850" lIns="438850" spcFirstLastPara="1" rIns="438850" wrap="square" tIns="43885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Sparrows</a:t>
            </a: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have wide, rounded wings, which allow for greater control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larger wing width allows for the model to generate greater lift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wider wings also tend to increase the drag force on the kite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20232" y="18440537"/>
            <a:ext cx="4117718" cy="14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31089650" y="23442550"/>
            <a:ext cx="12858000" cy="90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850" lIns="438850" spcFirstLastPara="1" rIns="438850" wrap="square" tIns="438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1" sz="4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A. Mohamed, G. K. Taylor, S. Watkins, and S. P. Windsor, “Opportunistic soaring by birds suggests new opportunities for atmospheric energy harvesting by Flying Robots,” </a:t>
            </a:r>
            <a:r>
              <a:rPr i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The Royal Society Interface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19, no. 196, Nov. 2022. doi:10.1098/rsif.2022.0671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A. Khaheshi, H. T. Tramsen, S. N. Gorb, and H. Rajabi, “Against the wind: A load-bearing, yet durable, kite inspired by insect wings,” </a:t>
            </a:r>
            <a:r>
              <a:rPr i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&amp;amp; Design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198, p. 109354, Jan. 2021. doi:10.1016/j.matdes.2020.109354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“Aircraft Wing area and aspect ratio,” AeroToolbox, https://aerotoolbox.com/intro-wing-design/ (accessed Jul. 17, 2024).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D. B. Savile, “Adaptive evolution in the avian wing,” </a:t>
            </a:r>
            <a:r>
              <a:rPr i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11, no. 2, p. 212, Jun. 1957. doi:10.2307/2406051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“House Sparrow Overview, all about birds, Cornell Lab of Ornithology,” Overview, All About Birds, Cornell Lab of Ornithology, https://www.allaboutbirds.org/guide/House_Sparrow/overview (accessed Jul. 17, 2024).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“Peregrine Falcon Overview, all about birds, Cornell Lab of Ornithology,” Overview, All About Birds, Cornell Lab of Ornithology, https://www.allaboutbirds.org/guide/Peregrine_Falcon/ (accessed Jul. 17, 2024).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“Golden Eagle Overview, all about birds, Cornell Lab of Ornithology,” Overview, All About Birds, Cornell Lab of Ornithology, https://www.allaboutbirds.org/guide/Golden_Eagle/ (accessed Jul. 17, 2024). 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212726" y="18249976"/>
            <a:ext cx="10700902" cy="5710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3"/>
          <p:cNvGrpSpPr/>
          <p:nvPr/>
        </p:nvGrpSpPr>
        <p:grpSpPr>
          <a:xfrm>
            <a:off x="10736387" y="24190029"/>
            <a:ext cx="10042226" cy="8347739"/>
            <a:chOff x="1118226" y="203299"/>
            <a:chExt cx="2090824" cy="4156826"/>
          </a:xfrm>
        </p:grpSpPr>
        <p:sp>
          <p:nvSpPr>
            <p:cNvPr id="113" name="Google Shape;113;p13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1118226" y="341741"/>
              <a:ext cx="2048100" cy="21381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33851" y="743167"/>
              <a:ext cx="1815000" cy="172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Scientific Name: </a:t>
              </a:r>
              <a:r>
                <a:rPr i="1"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Falco peregrinus</a:t>
              </a:r>
              <a:endParaRPr i="1"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Wing Shape: High Speed Wing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Wingspan: 81.8 cm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Falcon Aspect Ratio: 7.9 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Model’s Aspect Ratio: 4.29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1233850" y="203299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Peregrine Falcon </a:t>
              </a:r>
              <a:r>
                <a:rPr lang="en" sz="60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[4,6]</a:t>
              </a:r>
              <a:endParaRPr sz="60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" name="Google Shape;117;p13"/>
          <p:cNvGrpSpPr/>
          <p:nvPr/>
        </p:nvGrpSpPr>
        <p:grpSpPr>
          <a:xfrm>
            <a:off x="21060800" y="24190029"/>
            <a:ext cx="10042252" cy="8347739"/>
            <a:chOff x="1118221" y="203299"/>
            <a:chExt cx="2090829" cy="4156826"/>
          </a:xfrm>
        </p:grpSpPr>
        <p:sp>
          <p:nvSpPr>
            <p:cNvPr id="118" name="Google Shape;118;p13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1118221" y="341741"/>
              <a:ext cx="2048100" cy="21381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1233851" y="743167"/>
              <a:ext cx="1815000" cy="172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Scientific Name: </a:t>
              </a:r>
              <a:r>
                <a:rPr i="1"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Aquila chrysaetos</a:t>
              </a:r>
              <a:endParaRPr i="1"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Wing Shape: Slotted High Lift Wing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Wingspan: 194 cm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Eagle Aspect Ratio: 7.4 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2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Model’s Aspect Ratio: 6.24</a:t>
              </a:r>
              <a:endParaRPr sz="32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33850" y="203299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8850" lIns="438850" spcFirstLastPara="1" rIns="438850" wrap="square" tIns="43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Golden Eagle </a:t>
              </a:r>
              <a:r>
                <a:rPr lang="en" sz="60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[4,7]</a:t>
              </a:r>
              <a:endParaRPr sz="600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22" name="Google Shape;12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0350" y="253575"/>
            <a:ext cx="1828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/>
          <p:nvPr/>
        </p:nvSpPr>
        <p:spPr>
          <a:xfrm rot="-5400000">
            <a:off x="1860300" y="19049600"/>
            <a:ext cx="3653975" cy="6344175"/>
          </a:xfrm>
          <a:prstGeom prst="flowChartOffpageConnector">
            <a:avLst/>
          </a:prstGeom>
          <a:noFill/>
          <a:ln cap="flat" cmpd="sng" w="114300">
            <a:solidFill>
              <a:srgbClr val="0D5D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8850" lIns="438850" spcFirstLastPara="1" rIns="438850" wrap="square" tIns="438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778000" y="21227638"/>
            <a:ext cx="49233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850" lIns="438850" spcFirstLastPara="1" rIns="438850" wrap="square" tIns="438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400">
                <a:solidFill>
                  <a:srgbClr val="0D5D84"/>
                </a:solidFill>
                <a:latin typeface="Roboto"/>
                <a:ea typeface="Roboto"/>
                <a:cs typeface="Roboto"/>
                <a:sym typeface="Roboto"/>
              </a:rPr>
              <a:t>Wind Data:</a:t>
            </a:r>
            <a:endParaRPr b="1" sz="6400">
              <a:solidFill>
                <a:srgbClr val="0D5D8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11026213" y="28562527"/>
            <a:ext cx="9752400" cy="3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850" lIns="438850" spcFirstLastPara="1" rIns="438850" wrap="square" tIns="43885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Falcons have a keeled sternum and powerful wing muscles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They have adaptive wings that can adjust shape for various flight conditions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model’s curved wing shape aids in reducing drag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t/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21352550" y="28499935"/>
            <a:ext cx="9752400" cy="3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850" lIns="438850" spcFirstLastPara="1" rIns="438850" wrap="square" tIns="43885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Their wings are more rounded than a falcon’s but are narrower than a sparrow’s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Allows for reduced drag, increased lift, and cutting through the air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-"/>
            </a:pPr>
            <a:r>
              <a:rPr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model’s wing contains an inward curve despite its narrower wings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>
            <a:off x="34937700" y="7896225"/>
            <a:ext cx="104700" cy="126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8" name="Google Shape;128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034038" y="4673175"/>
            <a:ext cx="4370202" cy="327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497975" y="14595975"/>
            <a:ext cx="13077300" cy="3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